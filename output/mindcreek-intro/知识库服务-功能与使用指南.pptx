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e54715c05449b" /><Relationship Type="http://schemas.openxmlformats.org/officeDocument/2006/relationships/extended-properties" Target="/docProps/app.xml" Id="R8692501453044e8d" /><Relationship Type="http://schemas.openxmlformats.org/officeDocument/2006/relationships/officeDocument" Target="/ppt/presentation.xml" Id="R23f3ccb9547c40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3aa4c34c44cbd"/>
  </p:sldMasterIdLst>
  <p:notesMasterIdLst>
    <p:notesMasterId xmlns:r="http://schemas.openxmlformats.org/officeDocument/2006/relationships" r:id="R3d79bf3b109a41fe"/>
  </p:notesMasterIdLst>
  <p:sldIdLst>
    <p:sldId xmlns:r="http://schemas.openxmlformats.org/officeDocument/2006/relationships" id="256" r:id="R241a43b2ae654bbf"/>
    <p:sldId xmlns:r="http://schemas.openxmlformats.org/officeDocument/2006/relationships" id="257" r:id="R359d20e419c74755"/>
    <p:sldId xmlns:r="http://schemas.openxmlformats.org/officeDocument/2006/relationships" id="258" r:id="R023d32d81ee4419b"/>
    <p:sldId xmlns:r="http://schemas.openxmlformats.org/officeDocument/2006/relationships" id="259" r:id="R9dc82c2faa1f48a7"/>
    <p:sldId xmlns:r="http://schemas.openxmlformats.org/officeDocument/2006/relationships" id="260" r:id="Rca5825e316d9469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0156856854ec9" /><Relationship Type="http://schemas.openxmlformats.org/officeDocument/2006/relationships/slideMaster" Target="/ppt/slideMasters/slideMaster1.xml" Id="R6953aa4c34c44cbd" /><Relationship Type="http://schemas.openxmlformats.org/officeDocument/2006/relationships/notesMaster" Target="/ppt/notesMasters/notesMaster1.xml" Id="R3d79bf3b109a41fe" /><Relationship Type="http://schemas.openxmlformats.org/officeDocument/2006/relationships/presProps" Target="/ppt/presProps.xml" Id="R6a14b8837d0a4f60" /><Relationship Type="http://schemas.openxmlformats.org/officeDocument/2006/relationships/tableStyles" Target="/ppt/tableStyles.xml" Id="Rf11c7882349e461f" /><Relationship Type="http://schemas.openxmlformats.org/officeDocument/2006/relationships/slide" Target="/ppt/slides/slide1.xml" Id="R241a43b2ae654bbf" /><Relationship Type="http://schemas.openxmlformats.org/officeDocument/2006/relationships/slide" Target="/ppt/slides/slide2.xml" Id="R359d20e419c74755" /><Relationship Type="http://schemas.openxmlformats.org/officeDocument/2006/relationships/slide" Target="/ppt/slides/slide3.xml" Id="R023d32d81ee4419b" /><Relationship Type="http://schemas.openxmlformats.org/officeDocument/2006/relationships/slide" Target="/ppt/slides/slide4.xml" Id="R9dc82c2faa1f48a7" /><Relationship Type="http://schemas.openxmlformats.org/officeDocument/2006/relationships/slide" Target="/ppt/slides/slide5.xml" Id="Rca5825e316d946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d120e0acb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10a8073194ad6" /><Relationship Type="http://schemas.openxmlformats.org/officeDocument/2006/relationships/notesMaster" Target="/ppt/notesMasters/notesMaster1.xml" Id="Re01594f1c05845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45790312c4ac1" /><Relationship Type="http://schemas.openxmlformats.org/officeDocument/2006/relationships/notesMaster" Target="/ppt/notesMasters/notesMaster1.xml" Id="Raf6db7c6b75141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c92791b0f48f5" /><Relationship Type="http://schemas.openxmlformats.org/officeDocument/2006/relationships/notesMaster" Target="/ppt/notesMasters/notesMaster1.xml" Id="Rfb8c0c51bc90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f77c09381c4b7e" /><Relationship Type="http://schemas.openxmlformats.org/officeDocument/2006/relationships/notesMaster" Target="/ppt/notesMasters/notesMaster1.xml" Id="Rceeb189a753249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60b98ec0844bcd" /><Relationship Type="http://schemas.openxmlformats.org/officeDocument/2006/relationships/notesMaster" Target="/ppt/notesMasters/notesMaster1.xml" Id="R645703b0d77d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来源：docs/OVERALL_DESIGN.md；docs/OVERALL_DESIGN_ZH.md；docs/guides/MINDCREEK_USER_MANUAL_ZH.md，第2–5节。基于当前源码与使用手册，功能是否可见取决于企业部署配置及角色权限。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来源：docs/guides/PHASE5_OPERATIONS.md，“Scanned PDF OCR”；docs/OVERALL_DESIGN_ZH.md，第5节；docs/guides/MINDCREEK_USER_MANUAL_ZH.md，第3–4节。截图：docs/assets/r4/after-create-knowledge-base.png，已裁剪。OCR依赖视觉模型与解析配置，不等于全量多模态检索或PixelRAG。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guides/KNOWLEDGE_GRAPH_BROWSER_ZH.md；docs/guides/R4_KNOWLEDGE_GRAPH_ZH.md；docs/guides/MINDCREEK_USER_MANUAL_ZH.md，第3.6与5.3节。截图：docs/assets/graph-view/after-entity-details.png。需已配置图谱服务及相应产品版本，Viewer不使用管理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guides/MINDCREEK_USER_MANUAL_ZH.md，第3.5与5.3节；docs/OVERALL_DESIGN_ZH.md。图片：upstream/weknora/docs/images/wiki-browser.png，为仓库内上游演示资料的裁剪，不是目标企业部署截图。Wiki需文档知识库及可用生成模型，普通Viewer通过对话使用获准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来源：docs/guides/CHAT_WORD_EXPORT_ZH.md；docs/plans/CHAT_WORD_EXPORT_ACCEPTANCE.md；docs/guides/MINDCREEK_USER_MANUAL_ZH.md，第5节；docs/plans/WORKSPACE_CENTRIC_R4.md 引用、图片与文件支持。截图：docs/assets/word-export/after-chat.png。图片展示需回答包含可访问的图片资源；Word首版不嵌入图片，不导出整个会话。公式使用支持的OMML结构，目标企业Word需验证编辑保存。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2efe2743142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533bdd27146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1ee292eef48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b004f9da84e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5b27112ab44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0e7c391fe41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EEF9E5-F340-45B3-BED3-8BF076F66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28DD0B-9ECA-453F-B9CF-336F381950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9BB280-A784-49CE-B876-D21256A8CE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768EC2-572C-4A95-8EF4-1FED507D8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EC247E-4FEE-4DC6-AF34-F894140BB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243046-A8CF-49D9-9193-28984FB343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7364EC-297F-4D8A-8063-1AF8AA77C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DAD3BC-0CD7-4FEE-B61A-706C601AF0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5FD22B-688E-4206-8207-DAF57AB42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4484B7-0BF2-4669-B717-A805BC96C8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313622bedf4bfd" /><Relationship Type="http://schemas.openxmlformats.org/officeDocument/2006/relationships/slideLayout" Target="/ppt/slideLayouts/slideLayout1.xml" Id="R132d2b0e30374041" /><Relationship Type="http://schemas.openxmlformats.org/officeDocument/2006/relationships/slideLayout" Target="/ppt/slideLayouts/slideLayout2.xml" Id="R734eceac6c994b54" /><Relationship Type="http://schemas.openxmlformats.org/officeDocument/2006/relationships/slideLayout" Target="/ppt/slideLayouts/slideLayout3.xml" Id="Rc393dc1693ec43f6" /><Relationship Type="http://schemas.openxmlformats.org/officeDocument/2006/relationships/slideLayout" Target="/ppt/slideLayouts/slideLayout4.xml" Id="R63c8d9f8aefe4697" /><Relationship Type="http://schemas.openxmlformats.org/officeDocument/2006/relationships/slideLayout" Target="/ppt/slideLayouts/slideLayout5.xml" Id="R1a5cda95f5dd42fd" /><Relationship Type="http://schemas.openxmlformats.org/officeDocument/2006/relationships/slideLayout" Target="/ppt/slideLayouts/slideLayout6.xml" Id="R6e3ee251e38946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d2b0e30374041"/>
    <p:sldLayoutId xmlns:r="http://schemas.openxmlformats.org/officeDocument/2006/relationships" id="2147483650" r:id="R734eceac6c994b54"/>
    <p:sldLayoutId xmlns:r="http://schemas.openxmlformats.org/officeDocument/2006/relationships" id="2147483651" r:id="Rc393dc1693ec43f6"/>
    <p:sldLayoutId xmlns:r="http://schemas.openxmlformats.org/officeDocument/2006/relationships" id="2147483652" r:id="R63c8d9f8aefe4697"/>
    <p:sldLayoutId xmlns:r="http://schemas.openxmlformats.org/officeDocument/2006/relationships" id="2147483653" r:id="R1a5cda95f5dd42fd"/>
    <p:sldLayoutId xmlns:r="http://schemas.openxmlformats.org/officeDocument/2006/relationships" id="2147483654" r:id="R6e3ee251e38946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e6b4673724910" /><Relationship Type="http://schemas.openxmlformats.org/officeDocument/2006/relationships/notesSlide" Target="/ppt/notesSlides/notesSlide1.xml" Id="R20e9de9f20de4f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72ed5fd124b0a" /><Relationship Type="http://schemas.openxmlformats.org/officeDocument/2006/relationships/image" Target="/ppt/media/image.png" Id="R8df2788d325b4bd0" /><Relationship Type="http://schemas.openxmlformats.org/officeDocument/2006/relationships/notesSlide" Target="/ppt/notesSlides/notesSlide2.xml" Id="R1d03d52cfa90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03fecde724229" /><Relationship Type="http://schemas.openxmlformats.org/officeDocument/2006/relationships/image" Target="/ppt/media/image2.png" Id="R7613a11fcc224d5c" /><Relationship Type="http://schemas.openxmlformats.org/officeDocument/2006/relationships/notesSlide" Target="/ppt/notesSlides/notesSlide3.xml" Id="R0f8f67e98e7d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4def84fd34cf8" /><Relationship Type="http://schemas.openxmlformats.org/officeDocument/2006/relationships/image" Target="/ppt/media/image3.png" Id="Rf19e6d4324a74f99" /><Relationship Type="http://schemas.openxmlformats.org/officeDocument/2006/relationships/notesSlide" Target="/ppt/notesSlides/notesSlide4.xml" Id="R0ddbb5c6d2f2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f401652424374" /><Relationship Type="http://schemas.openxmlformats.org/officeDocument/2006/relationships/image" Target="/ppt/media/image4.png" Id="R6cbe231743fc419e" /><Relationship Type="http://schemas.openxmlformats.org/officeDocument/2006/relationships/notesSlide" Target="/ppt/notesSlides/notesSlide5.xml" Id="Rea7eb4a062e249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0A073-7DA4-483B-BA82-113CFDA1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MindCreek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C86C2-5C44-4410-A835-8C05C2A0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企业知识管理与智能问答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2E46E-861E-411B-AEA8-4228AC73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MindCreek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5BAE8-AE59-48C4-A5E8-606B142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81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AEDDB-79A6-42F1-BD2B-DE734CEA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714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让企业资料</a:t>
            </a:r>
          </a:p>
          <a:p xmlns:a="http://schemas.openxmlformats.org/drawingml/2006/main">
            <a:pPr>
              <a:defRPr sz="48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成为随时可用的知识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EAFB8-4E18-4676-8390-62218F9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统一整理文档与 FAQ，结合 Wiki 和知识图谱，</a:t>
            </a:r>
          </a:p>
          <a:p xmlns:a="http://schemas.openxmlformats.org/drawingml/2006/main">
            <a:pPr>
              <a:defRPr sz="22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在授权范围内检索、提问并复用回答。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4B559-9E1B-421E-B8DE-EC0F338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员工：企业登录后，选择知识范围并提问</a:t>
            </a:r>
          </a:p>
          <a:p xmlns:a="http://schemas.openxmlformats.org/drawingml/2006/main">
            <a:pPr>
              <a:defRPr sz="2025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维护者：建库、导入资料，检查处理结果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4BD6B-758C-48EF-818F-B49389B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289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资料入库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36A01-EBBF-4469-B296-A09EBAA2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289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扫描件与图文资料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0B38F-A043-4FE5-A656-3513FE08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知识整理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E2365-A35C-42BB-BA2A-41E9BFB0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482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Wiki 页面与实体关系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82FC9-2136-44CA-885F-AE57957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67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问答复用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950D6-3378-4F32-9F82-23F72AF1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674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图文回答与 Word 导出</a:t>
            </a:r>
          </a:p>
        </p:txBody>
      </p:sp>
    </p:spTree>
    <p:extLst>
      <p:ext uri="{BB962C8B-B14F-4D97-AF65-F5344CB8AC3E}">
        <p14:creationId xmlns:p14="http://schemas.microsoft.com/office/powerpoint/2010/main" val="943881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9C1A6-E89E-41BA-8E28-F15EFFA2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多模态资料入库与 OCR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7C701-8BB2-43EB-835E-AB810C20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扫描版 PDF、文档插图中的信息，也可以进入知识检索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07068-E553-4507-9452-7CEB933F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MindCreek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3D739-E6C3-455A-B58F-7C0ADDD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81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7871D-8DB9-4758-AA00-DEEA4CB7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亮点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4BB89-142C-488C-BF54-8479C2EE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通过视觉模型识别扫描页和图片内容，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补充仅靠文本解析无法获取的信息。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5D033-DD60-4B58-9AF2-3751E7BD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使用方法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D3D21-25F4-4DF9-BD17-61FAB5AF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1. 新建文档知识库并上传资料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2. 在“图像处理”中启用可用视觉模型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3. 等待处理完成，检查分块和问答引用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35B76-4816-4CC5-9C66-FD6B52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扫描件需配置 VLM/OCR。已有资料更改设置后，</a:t>
            </a:r>
          </a:p>
          <a:p xmlns:a="http://schemas.openxmlformats.org/drawingml/2006/main">
            <a:pPr>
              <a:defRPr sz="180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需要重新解析；识别效果应以样本核对。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1E3AC-91DA-4647-BE03-A5EE18CA8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2788d325b4bd0"/>
          <a:stretch xmlns:a="http://schemas.openxmlformats.org/drawingml/2006/main"/>
        </p:blipFill>
        <p:spPr>
          <a:xfrm xmlns:a="http://schemas.openxmlformats.org/drawingml/2006/main">
            <a:off x="7596188" y="2143125"/>
            <a:ext cx="5524500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4ED72-825E-4FDA-A441-33AB8E1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865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知识库配置入口（合成示例）</a:t>
            </a:r>
          </a:p>
        </p:txBody>
      </p:sp>
    </p:spTree>
    <p:extLst>
      <p:ext uri="{BB962C8B-B14F-4D97-AF65-F5344CB8AC3E}">
        <p14:creationId xmlns:p14="http://schemas.microsoft.com/office/powerpoint/2010/main" val="9354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EEFD6-1BA7-41A4-8DAA-86E63A5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知识图谱：实体、关系与来源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70090-E979-4B9F-AD99-A2A3310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直观看到“谁负责什么”“系统依赖什么”，并追溯原始资料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A1290-C054-4EE4-A8E6-88A9461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MindCreek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8B287-24BB-42CB-A8C0-C3FF2A57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81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87A7A-0FD1-4C84-B526-B46267F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亮点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F87D0-66C6-4525-9F26-3281BAFB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从文档抽取实体和关系。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搜索实体、筛选关系并展开相邻实体。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24ED4-F3A3-404A-99CD-AB6C1702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使用方法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F5DAA-3624-4169-A8BF-890A26C2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1. 管理员启用图谱并配置抽取关系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2. 文档处理后进入“知识图谱”页签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3. 点击实体，查看属性与来源文档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06B12-0EBE-44D6-871C-AB0800D1E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3a11fcc224d5c"/>
          <a:stretch xmlns:a="http://schemas.openxmlformats.org/drawingml/2006/main"/>
        </p:blipFill>
        <p:spPr>
          <a:xfrm xmlns:a="http://schemas.openxmlformats.org/drawingml/2006/main">
            <a:off x="6628518" y="2381250"/>
            <a:ext cx="7459839" cy="4619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4D511-D8A6-4C88-8D96-CB3F2323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0580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图谱界面（合成资料）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FFD00-8DB8-4401-AB9D-BD1DE34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当前为只读浏览，向 Owner / Admin / Contributor 开放；人工修订实体关系尚未提供。</a:t>
            </a:r>
          </a:p>
        </p:txBody>
      </p:sp>
    </p:spTree>
    <p:extLst>
      <p:ext uri="{BB962C8B-B14F-4D97-AF65-F5344CB8AC3E}">
        <p14:creationId xmlns:p14="http://schemas.microsoft.com/office/powerpoint/2010/main" val="1425143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2F89A-F9F9-4EC7-9D08-6ADD0BDA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Wiki：按主题整理知识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0DC65-5DEF-4438-BBD1-7079FC9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将分散资料整理为可浏览、可检索、可核对来源的知识页面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0BF42-43FF-4C95-AF04-64DCD4F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MindCreek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5825A-F3CD-4F39-8D6D-A2851E79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81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C0E26-3153-41BA-B4A2-9C8E8809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亮点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E471A-7B77-4C05-AC3E-F88E766B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围绕主题组织页面，保留关联链接，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适合员工手册、技术说明和操作规程。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9AE92-9D2E-49C8-B6FE-252264BE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使用方法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BE8D1-AEA2-4746-A5D9-F70828D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1. 在知识库索引策略中启用 Wiki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2. 确认生成模型，按需填写抽取要求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3. 处理完成后浏览页面并核对来源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45A59-AAA7-4007-90BB-D47DC8664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e6d4324a74f99"/>
          <a:stretch xmlns:a="http://schemas.openxmlformats.org/drawingml/2006/main"/>
        </p:blipFill>
        <p:spPr>
          <a:xfrm xmlns:a="http://schemas.openxmlformats.org/drawingml/2006/main">
            <a:off x="6048662" y="2286000"/>
            <a:ext cx="8619551" cy="4933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852D9-9F74-4176-89E1-3F37F889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191375"/>
            <a:ext cx="800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原生 Wiki 能力示例（上游演示资料）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79B30-3A5B-45F2-952B-DFDBFC2E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Wiki 链接图表示页面之间的链接；知识图谱表示实体关系。修改生成要求后，旧资料需重新处理。</a:t>
            </a:r>
          </a:p>
        </p:txBody>
      </p:sp>
    </p:spTree>
    <p:extLst>
      <p:ext uri="{BB962C8B-B14F-4D97-AF65-F5344CB8AC3E}">
        <p14:creationId xmlns:p14="http://schemas.microsoft.com/office/powerpoint/2010/main" val="312734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DDD4D-00A8-49D3-8FC2-CC263660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图文问答与可编辑 Word 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DC690-BFF3-4182-AF19-FFD005AD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回答可呈现图片、表格和公式，方便阅读、核对与后续整理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01D7-D3E2-4CC7-A7DB-EEF72BC8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MindCreek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EF5CD-3CFE-4F31-A669-4CACB064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81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EACDB-75C0-471A-997E-5E8B86A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提问与阅读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C5CE3-1743-4CC9-BED7-7ABA56FC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新对话选择“快速问答”或智能体，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用 @ 选知识库，提问后核对引用。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可要求“用表格对比，并列出依据”。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D4658-2595-49C9-A8C2-7BFA071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856C"/>
                </a:solidFill>
                <a:latin typeface="Hiragino Sans GB"/>
                <a:ea typeface="Hiragino Sans GB"/>
                <a:cs typeface="Hiragino Sans GB"/>
              </a:rPr>
              <a:t>导出与编辑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73E10-25F3-420F-B030-39EF2190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回答完成后，点击下方下载图标。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打开 Word，继续编辑正文、原生表格</a:t>
            </a:r>
          </a:p>
          <a:p xmlns:a="http://schemas.openxmlformats.org/drawingml/2006/main">
            <a:pPr>
              <a:def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3D37"/>
                </a:solidFill>
                <a:latin typeface="Hiragino Sans GB"/>
                <a:ea typeface="Hiragino Sans GB"/>
                <a:cs typeface="Hiragino Sans GB"/>
              </a:rPr>
              <a:t>及支持的公式，例如分式、积分和矩阵。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8B338-83F5-4291-9906-C8EBE915C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231743fc419e"/>
          <a:stretch xmlns:a="http://schemas.openxmlformats.org/drawingml/2006/main"/>
        </p:blipFill>
        <p:spPr>
          <a:xfrm xmlns:a="http://schemas.openxmlformats.org/drawingml/2006/main">
            <a:off x="7239000" y="2326298"/>
            <a:ext cx="6334125" cy="487240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A7D8A-C7D7-4243-BA40-26C4D37E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258050"/>
            <a:ext cx="747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回答表格、公式与下载入口（合成示例）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89890-562B-4C1F-8CDC-659209AD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0"/>
            <a:ext cx="1371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A64"/>
                </a:solidFill>
                <a:latin typeface="Hiragino Sans GB"/>
                <a:ea typeface="Hiragino Sans GB"/>
                <a:cs typeface="Hiragino Sans GB"/>
              </a:rPr>
              <a:t>主站支持单条回答导出；图片仅保留说明。不支持的公式会提示并停止导出。</a:t>
            </a:r>
          </a:p>
        </p:txBody>
      </p:sp>
    </p:spTree>
    <p:extLst>
      <p:ext uri="{BB962C8B-B14F-4D97-AF65-F5344CB8AC3E}">
        <p14:creationId xmlns:p14="http://schemas.microsoft.com/office/powerpoint/2010/main" val="1066295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2026-10-13T09:02:21.0450000Z</dcterms:created>
  <dcterms:modified xsi:type="dcterms:W3CDTF">2026-10-13T09:02:21.0450000Z</dcterms:modified>
</coreProperties>
</file>