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ac398c6f4140fb" /><Relationship Type="http://schemas.openxmlformats.org/officeDocument/2006/relationships/extended-properties" Target="/docProps/app.xml" Id="R2c390a61df4f4816" /><Relationship Type="http://schemas.openxmlformats.org/officeDocument/2006/relationships/officeDocument" Target="/ppt/presentation.xml" Id="R11dc3461945c45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c77d4a508e4b94"/>
  </p:sldMasterIdLst>
  <p:notesMasterIdLst>
    <p:notesMasterId xmlns:r="http://schemas.openxmlformats.org/officeDocument/2006/relationships" r:id="R8b9c198e32db41fd"/>
  </p:notesMasterIdLst>
  <p:sldIdLst>
    <p:sldId xmlns:r="http://schemas.openxmlformats.org/officeDocument/2006/relationships" id="256" r:id="R8aa88dd06b164d23"/>
    <p:sldId xmlns:r="http://schemas.openxmlformats.org/officeDocument/2006/relationships" id="257" r:id="R18e66c183dc549fd"/>
    <p:sldId xmlns:r="http://schemas.openxmlformats.org/officeDocument/2006/relationships" id="258" r:id="R8c7e6963f7854a7b"/>
    <p:sldId xmlns:r="http://schemas.openxmlformats.org/officeDocument/2006/relationships" id="259" r:id="R0d109194fd1b497b"/>
    <p:sldId xmlns:r="http://schemas.openxmlformats.org/officeDocument/2006/relationships" id="260" r:id="Rfef2aa50cb1b48bf"/>
    <p:sldId xmlns:r="http://schemas.openxmlformats.org/officeDocument/2006/relationships" id="261" r:id="R305211120b3a4439"/>
    <p:sldId xmlns:r="http://schemas.openxmlformats.org/officeDocument/2006/relationships" id="262" r:id="R3108a3565f6b4159"/>
    <p:sldId xmlns:r="http://schemas.openxmlformats.org/officeDocument/2006/relationships" id="263" r:id="R02c6a3956cf94b27"/>
    <p:sldId xmlns:r="http://schemas.openxmlformats.org/officeDocument/2006/relationships" id="264" r:id="Rd517f7f417f24c9d"/>
    <p:sldId xmlns:r="http://schemas.openxmlformats.org/officeDocument/2006/relationships" id="265" r:id="R0f56817ea9d749c4"/>
    <p:sldId xmlns:r="http://schemas.openxmlformats.org/officeDocument/2006/relationships" id="266" r:id="R64dec31b5c0e4997"/>
    <p:sldId xmlns:r="http://schemas.openxmlformats.org/officeDocument/2006/relationships" id="267" r:id="R87de9ac336da430b"/>
    <p:sldId xmlns:r="http://schemas.openxmlformats.org/officeDocument/2006/relationships" id="268" r:id="R78383fa9c4c44d09"/>
    <p:sldId xmlns:r="http://schemas.openxmlformats.org/officeDocument/2006/relationships" id="269" r:id="R324c35d5b4004a4e"/>
    <p:sldId xmlns:r="http://schemas.openxmlformats.org/officeDocument/2006/relationships" id="270" r:id="Ra37420d0bd6f4973"/>
    <p:sldId xmlns:r="http://schemas.openxmlformats.org/officeDocument/2006/relationships" id="271" r:id="R4eac1d51955e4052"/>
    <p:sldId xmlns:r="http://schemas.openxmlformats.org/officeDocument/2006/relationships" id="272" r:id="Rc2b22ee77acb4195"/>
    <p:sldId xmlns:r="http://schemas.openxmlformats.org/officeDocument/2006/relationships" id="273" r:id="Radf4d5f63c3b4918"/>
    <p:sldId xmlns:r="http://schemas.openxmlformats.org/officeDocument/2006/relationships" id="274" r:id="R52885c4a8eb04e2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534016c5824438" /><Relationship Type="http://schemas.openxmlformats.org/officeDocument/2006/relationships/slideMaster" Target="/ppt/slideMasters/slideMaster1.xml" Id="R74c77d4a508e4b94" /><Relationship Type="http://schemas.openxmlformats.org/officeDocument/2006/relationships/notesMaster" Target="/ppt/notesMasters/notesMaster1.xml" Id="R8b9c198e32db41fd" /><Relationship Type="http://schemas.openxmlformats.org/officeDocument/2006/relationships/presProps" Target="/ppt/presProps.xml" Id="R8373c960254b4407" /><Relationship Type="http://schemas.openxmlformats.org/officeDocument/2006/relationships/tableStyles" Target="/ppt/tableStyles.xml" Id="Rb352de53e60443d1" /><Relationship Type="http://schemas.openxmlformats.org/officeDocument/2006/relationships/slide" Target="/ppt/slides/slide1.xml" Id="R8aa88dd06b164d23" /><Relationship Type="http://schemas.openxmlformats.org/officeDocument/2006/relationships/slide" Target="/ppt/slides/slide2.xml" Id="R18e66c183dc549fd" /><Relationship Type="http://schemas.openxmlformats.org/officeDocument/2006/relationships/slide" Target="/ppt/slides/slide3.xml" Id="R8c7e6963f7854a7b" /><Relationship Type="http://schemas.openxmlformats.org/officeDocument/2006/relationships/slide" Target="/ppt/slides/slide4.xml" Id="R0d109194fd1b497b" /><Relationship Type="http://schemas.openxmlformats.org/officeDocument/2006/relationships/slide" Target="/ppt/slides/slide5.xml" Id="Rfef2aa50cb1b48bf" /><Relationship Type="http://schemas.openxmlformats.org/officeDocument/2006/relationships/slide" Target="/ppt/slides/slide6.xml" Id="R305211120b3a4439" /><Relationship Type="http://schemas.openxmlformats.org/officeDocument/2006/relationships/slide" Target="/ppt/slides/slide7.xml" Id="R3108a3565f6b4159" /><Relationship Type="http://schemas.openxmlformats.org/officeDocument/2006/relationships/slide" Target="/ppt/slides/slide8.xml" Id="R02c6a3956cf94b27" /><Relationship Type="http://schemas.openxmlformats.org/officeDocument/2006/relationships/slide" Target="/ppt/slides/slide9.xml" Id="Rd517f7f417f24c9d" /><Relationship Type="http://schemas.openxmlformats.org/officeDocument/2006/relationships/slide" Target="/ppt/slides/slide10.xml" Id="R0f56817ea9d749c4" /><Relationship Type="http://schemas.openxmlformats.org/officeDocument/2006/relationships/slide" Target="/ppt/slides/slide11.xml" Id="R64dec31b5c0e4997" /><Relationship Type="http://schemas.openxmlformats.org/officeDocument/2006/relationships/slide" Target="/ppt/slides/slide12.xml" Id="R87de9ac336da430b" /><Relationship Type="http://schemas.openxmlformats.org/officeDocument/2006/relationships/slide" Target="/ppt/slides/slide13.xml" Id="R78383fa9c4c44d09" /><Relationship Type="http://schemas.openxmlformats.org/officeDocument/2006/relationships/slide" Target="/ppt/slides/slide14.xml" Id="R324c35d5b4004a4e" /><Relationship Type="http://schemas.openxmlformats.org/officeDocument/2006/relationships/slide" Target="/ppt/slides/slide15.xml" Id="Ra37420d0bd6f4973" /><Relationship Type="http://schemas.openxmlformats.org/officeDocument/2006/relationships/slide" Target="/ppt/slides/slide16.xml" Id="R4eac1d51955e4052" /><Relationship Type="http://schemas.openxmlformats.org/officeDocument/2006/relationships/slide" Target="/ppt/slides/slide17.xml" Id="Rc2b22ee77acb4195" /><Relationship Type="http://schemas.openxmlformats.org/officeDocument/2006/relationships/slide" Target="/ppt/slides/slide18.xml" Id="Radf4d5f63c3b4918" /><Relationship Type="http://schemas.openxmlformats.org/officeDocument/2006/relationships/slide" Target="/ppt/slides/slide19.xml" Id="R52885c4a8eb04e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f9742133d24b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efc1c397ad47a7" /><Relationship Type="http://schemas.openxmlformats.org/officeDocument/2006/relationships/notesMaster" Target="/ppt/notesMasters/notesMaster1.xml" Id="R6b64fd77d166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16b2e38bdb43dc" /><Relationship Type="http://schemas.openxmlformats.org/officeDocument/2006/relationships/notesMaster" Target="/ppt/notesMasters/notesMaster1.xml" Id="Rae0aa7d44d2e49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e9bed0002347db" /><Relationship Type="http://schemas.openxmlformats.org/officeDocument/2006/relationships/notesMaster" Target="/ppt/notesMasters/notesMaster1.xml" Id="Rbdd2cd924ecd4d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fe60cc99a24396" /><Relationship Type="http://schemas.openxmlformats.org/officeDocument/2006/relationships/notesMaster" Target="/ppt/notesMasters/notesMaster1.xml" Id="Rc5e03a8698a143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062a2c00334332" /><Relationship Type="http://schemas.openxmlformats.org/officeDocument/2006/relationships/notesMaster" Target="/ppt/notesMasters/notesMaster1.xml" Id="R7e8a6173298141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830cbf04664712" /><Relationship Type="http://schemas.openxmlformats.org/officeDocument/2006/relationships/notesMaster" Target="/ppt/notesMasters/notesMaster1.xml" Id="R621aba0d3e4c4b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8366b660b041d0" /><Relationship Type="http://schemas.openxmlformats.org/officeDocument/2006/relationships/notesMaster" Target="/ppt/notesMasters/notesMaster1.xml" Id="R4eb51224762f4c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1771b1e61d4652" /><Relationship Type="http://schemas.openxmlformats.org/officeDocument/2006/relationships/notesMaster" Target="/ppt/notesMasters/notesMaster1.xml" Id="Re69618790fbf45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eca42f76af429e" /><Relationship Type="http://schemas.openxmlformats.org/officeDocument/2006/relationships/notesMaster" Target="/ppt/notesMasters/notesMaster1.xml" Id="R5df21f08e5244e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d190394f0940ce" /><Relationship Type="http://schemas.openxmlformats.org/officeDocument/2006/relationships/notesMaster" Target="/ppt/notesMasters/notesMaster1.xml" Id="R86a396b9da2449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2980e2b8884300" /><Relationship Type="http://schemas.openxmlformats.org/officeDocument/2006/relationships/notesMaster" Target="/ppt/notesMasters/notesMaster1.xml" Id="Rc2d7063ad09942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dcb30abff94388" /><Relationship Type="http://schemas.openxmlformats.org/officeDocument/2006/relationships/notesMaster" Target="/ppt/notesMasters/notesMaster1.xml" Id="Rd751f961a70149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12ae64fc384106" /><Relationship Type="http://schemas.openxmlformats.org/officeDocument/2006/relationships/notesMaster" Target="/ppt/notesMasters/notesMaster1.xml" Id="Rcca4fef072c041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87747ab6d94dd1" /><Relationship Type="http://schemas.openxmlformats.org/officeDocument/2006/relationships/notesMaster" Target="/ppt/notesMasters/notesMaster1.xml" Id="R4358cf86088c4f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981fc4d2f84679" /><Relationship Type="http://schemas.openxmlformats.org/officeDocument/2006/relationships/notesMaster" Target="/ppt/notesMasters/notesMaster1.xml" Id="R5ca7fc71898448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221e882a274c18" /><Relationship Type="http://schemas.openxmlformats.org/officeDocument/2006/relationships/notesMaster" Target="/ppt/notesMasters/notesMaster1.xml" Id="R99ac0ad96ed84a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0a063e47f84e7a" /><Relationship Type="http://schemas.openxmlformats.org/officeDocument/2006/relationships/notesMaster" Target="/ppt/notesMasters/notesMaster1.xml" Id="R4bb9cdde8e2243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c75fd109104c67" /><Relationship Type="http://schemas.openxmlformats.org/officeDocument/2006/relationships/notesMaster" Target="/ppt/notesMasters/notesMaster1.xml" Id="R6199785cd6af4f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f43ccf45cfa4cb9" /><Relationship Type="http://schemas.openxmlformats.org/officeDocument/2006/relationships/notesMaster" Target="/ppt/notesMasters/notesMaster1.xml" Id="R51cfde7663044d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依据本次对话总结。公司已有自部署 Dify 知识库与聊天智能体，主要通过插件/API 扩展。未来取消个人知识库，管理员维护企业知识库，员工仅使用问答智能体。本文为技术路线建议，不代表已经批准实施或部署。WeKnora 使用官方拼写，MindCreek 指当前围绕 WeKnora 构建的产品。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本页是结合用户最新偏好形成的建议，而不是已批准的实施决定。用户强调 WeKnora OCR、Wiki、GraphRAG 的复用价值。保留 Dify 的主要理由是已有应用资产和工作流。官方外部知识库接口允许自定义知识服务维护内容与检索，由 Dify 使用返回片段。来源：https://docs.dify.ai/en/cloud/use-dify/knowledge/connect-external-knowledge-base 。项目依据：docs/OVERALL_DESIGN.md 第6.1.3节与第9.2节。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本页需求均来自本次对话。管理员集中维护采用角色和授权表达，不建议共享一个高权限账号。公司现有 Dify 版本未知，不能把最新官方文档能力直接视为当前公司部署已具备。旧方案曾围绕个人建库、分享与订阅选择 WeKnora，新需求提高了专业知识治理和现有应用资产的权重。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 Dify 状态依据用户说明，未访问公司部署。MindCreek 来源：docs/CURRENT_STATUS.md（2026-09-11）、services/gateway/internal/capability/registry.go、config/phase5-capabilities.json。当前仓库批准的上游为未修改的 WeKnora v0.8.0。上游实现依据：upstream/weknora/website-docs/03-features/03-document-parsing.md、14-wiki.md、09-knowledge-graph.md。员工发布/门户状态：docs/plans/AGENT_PUBLISHING_CHANNELS_DESIGN_ZH.md。默认开关不证明目标服务器配置。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Dify 发布依据：https://docs.dify.ai/en/cloud/use-dify/publish/README 。解析及多模态插件依据：https://docs.dify.ai/en/develop-plugin/dev-guides-and-walkthroughs/develop-multimodal-data-processing-tool 。数据源插件依据：https://docs.dify.ai/en/develop-plugin/dev-guides-and-walkthroughs/datasource-plugin ，该插件类型文档要求1.9.0+，公司版本未知。WeKnora解析依据：upstream/weknora/website-docs/03-features/03-document-parsing.md。MindCreek依据：docs/CURRENT_STATUS.md、docs/guides/COMMUNITY_IMPORT.md、docs/plans/AGENT_PUBLISHING_CHANNELS_DESIGN_ZH.md。帖子导入工具目前面向 MindCreek，不是可直接运行的 Dify 上传器。集中维护的便利程度属于基于现有结构的工程判断。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Dify工具与Agent Strategy边界：https://docs.dify.ai/en/develop-plugin/getting-started/choose-plugin-type 。外部检索边界：https://docs.dify.ai/en/cloud/use-dify/knowledge/external-knowledge-api 。未断言Dify生态完全没有Wiki或图谱插件，本页比较的是当前已核对的原生能力与用户选择的API扩展路线。WeKnora当前实现依据：upstream/weknora/website-docs/03-features/14-wiki.md、09-knowledge-graph.md。MindCreek本体规划依据：docs/OVERALL_DESIGN.md 第6.1.3、7.3节。便利程度为工程判断，不是工期或性能测量。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本页为工程取舍分析，并非已有项目工时统计。用户主要通过 Dify 插件/API扩展，因此专业本体管理界面仍需独立后台或额外产品开发。MindCreek采用upstream-first：docs/OVERALL_DESIGN.md 第9.2节、docs/UPSTREAM_PATCHES.md。已有应用资产的数量、复杂度与团队编制未提供，不能据此估计确切费用或工期。两边共用的本体/推理服务应避免重复建设，集成模式需要承担双平台运维成本。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截图文件：upstream/weknora/website-docs/public/screenshots/wiki-browser.png，来自本地固定的WeKnora v0.8.0上游资料，非公司生产系统截图。上游公开地址：https://github.com/Tencent/WeKnora/blob/v0.8.0/website-docs/public/screenshots/wiki-browser.png 。功能依据：upstream/weknora/website-docs/03-features/14-wiki.md。截图内容仅说明Wiki界面结构，不构成公司制度或业务规则。Wiki版本机制不能直接视为本体审批和不可变版本机制。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CR、Wiki和图检索职责依据固定上游文档。当前GraphRAG管线主要抽取实体、匹配实体及邻居并补充召回原文块。来源：upstream/weknora/website-docs/03-features/03-document-parsing.md、14-wiki.md、09-knowledge-graph.md。本体定义与形式语义依据：https://www.w3.org/TR/owl2-overview/ 。推理定义参考：https://jena.apache.org/documentation/inference/ 。设备与零件示例为本次方案中的假设例子，不代表实际公司流程。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为建议设计。箭头表示处理依赖或查询调用，未展开结果返回与所有原文回读路径。WeKnora保留原文、分块、解析、索引与Wiki职责。MindCreek自有服务持有本体、版本、审核、事实和规则记录。通过稳定适配器访问上游接口，避免在上游表内直接新增产品字段。项目依据：docs/OVERALL_DESIGN.md 第6.1.3节、第9.2节、Derived-index adapters边界。底层API是否完整提供修订与证据导出需试点验证。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本路线为对原计划的建议调整。原docs/ROADMAP.md将GraphRAG、PixelRAG、本体分别放在Phase6、7、8。新需求下建议提前最小本体和证据治理，将PixelRAG按实际视觉检索收益安排。项目已有设计依据：docs/OVERALL_DESIGN.md 第6.1.3、7.3、Phase8。每阶段要求均为建议验收条件，未宣称已完成。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本页为拟建本体流程。OWL是本体语言，Turtle与JSON-LD是RDF序列化方式，不能把三者当作同层级的推理引擎。规范：https://www.w3.org/TR/owl2-overview/ 。项目依据：docs/OVERALL_DESIGN.md 第6.1.3、7.3节和ontology_versions设计。Wiki已有人机编辑来源与历史，但正式本体发布、不可变版本和语义兼容性需要另建。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这是建议数据模型，不是当前GraphNode/GraphRelation已具备的字段。当前上游结构参考：upstream/weknora/internal/types/extract_graph.go。规划依据：docs/OVERALL_DESIGN.md ontology_projects、ontology_versions、ontology_extraction_runs、knowledge_graph_facts。并非所有解析器都返回可信页码或边界框，最低应保留文档与chunk引用，细粒度位置按真实解析能力记录。SHACL约束校验参考：https://www.w3.org/TR/shacl/ 。校验通过不等于事实真实，仍需来源核对与相应人工审核。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设备、零件、批次、事实编号和规则均为假设示例，未使用公司真实资料。规则必须明确适用范围、时间与例外，并经过业务专家确认。不存在事实不能直接当作事实为假。OWL类层级与属性语义、业务规则和SHACL数据校验应分别设计。参考：https://www.w3.org/TR/owl2-overview/ 、https://www.w3.org/TR/shacl/ 、https://jena.apache.org/documentation/inference/ 。未指定或承诺某个推理引擎已实现。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本页为目标行为，不能视为当前MindCreek已完成全部派生内容失效能力。来源：docs/OVERALL_DESIGN.md 第7.3、9.3及安全/溯源/派生索引生命周期条款。不同员工可能具有不同知识权限，管理员集中维护不意味着所有员工拥有全量访问。图谱实体合并、跨库查询、推导和缓存都必须继承来源范围。删除某一来源后，仍存在独立有效证据的事实可按治理规则重新判断，无需一概删除全部同名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Dify外部知识API规范：https://docs.dify.ai/en/cloud/use-dify/knowledge/external-knowledge-api 。请求含knowledge_id、query、retrieval_setting及可选metadata_condition，配置的API Key通过Bearer传递，规范未提供标准当前员工身份字段。响应records包含content、score、title、metadata。内容管理边界：https://docs.dify.ai/en/cloud/use-dify/knowledge/connect-external-knowledge-base 。工具插件类型：https://docs.dify.ai/en/develop-plugin/getting-started/choose-plugin-type 。本页架构为建议。结构化工具输出不自动保证满足现有引用交互，需要专门适配。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建议来自本次讨论和docs/OVERALL_DESIGN.md相关质量、安全、成本与索引配置验收条款。没有提供实际评测数据，因此本页不填写分数、提升百分比或承诺工期。采用同一业务集比较现有Dify基线及MindCreek图/本体方案时，应记录版本、模型、检索策略、提示词与权限配置。合成测试用于工程验证，真实资料评估应在获授权范围内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建议根据最新业务定位调整原docs/ROADMAP.md：提前本体、事实证据和审核机制。个人知识库不再是用户目标。保持Plain RAG作为基础和回退路径。Dify是否整体替换取决于后续问答质量、现有工作流复杂度、迁移成本及团队维护能力，不因选择WeKnora为知识底座而自动得出替换结论。当前未提供可支撑排期或费用的团队、数据量与质量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对话为用户需求来源。项目来源：docs/CURRENT_STATUS.md，docs/ROADMAP.md，docs/OVERALL_DESIGN.md，docs/plans/AGENT_PUBLISHING_CHANNELS_DESIGN_ZH.md，services/gateway/internal/capability/registry.go，docs/guides/COMMUNITY_IMPORT.md。上游来源：upstream/weknora/website-docs/03-features/03-document-parsing.md、14-wiki.md、09-knowledge-graph.md，版本v0.8.0。公开参考：https://github.com/Tencent/WeKnora/tree/v0.8.0 。Dify：https://docs.dify.ai/en/cloud/use-dify/knowledge/connect-external-knowledge-base ；https://docs.dify.ai/en/cloud/use-dify/knowledge/external-knowledge-api ；https://docs.dify.ai/en/develop-plugin/getting-started/choose-plugin-type ；https://docs.dify.ai/en/cloud/use-dify/publish/README ；https://docs.dify.ai/en/develop-plugin/dev-guides-and-walkthroughs/datasource-plugin ；https://docs.dify.ai/en/develop-plugin/dev-guides-and-walkthroughs/develop-multimodal-data-processing-tool 。规范：https://www.w3.org/TR/owl2-overview/ ；https://www.w3.org/TR/shacl/ ；https://jena.apache.org/documentation/inference/ 。所有方案、验收门槛与便利程度描述均为本次讨论形成的建议，不是已完成部署或性能测试结果。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资料核对日期：2026-09-14。支持程度与实施便利程度为定性工程判断，并非实测得分。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ef863e24a44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d84a147101453f" /><Relationship Type="http://schemas.openxmlformats.org/officeDocument/2006/relationships/slideLayout" Target="/ppt/slideLayouts/slideLayout1.xml" Id="Ra346595df71b4b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46595df71b4b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e01b8ae5f4801" /><Relationship Type="http://schemas.openxmlformats.org/officeDocument/2006/relationships/notesSlide" Target="/ppt/notesSlides/notesSlide1.xml" Id="Rac6baf983ab249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f3ac845444f08" /><Relationship Type="http://schemas.openxmlformats.org/officeDocument/2006/relationships/notesSlide" Target="/ppt/notesSlides/notesSlide2.xml" Id="Rb503027a9f0242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bec1618bc4df0" /><Relationship Type="http://schemas.openxmlformats.org/officeDocument/2006/relationships/notesSlide" Target="/ppt/notesSlides/notesSlide3.xml" Id="Rfb1302c2522343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be0d1a3464be6" /><Relationship Type="http://schemas.openxmlformats.org/officeDocument/2006/relationships/notesSlide" Target="/ppt/notesSlides/notesSlide4.xml" Id="Rfaaced0b281b41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aaa9fe174450c" /><Relationship Type="http://schemas.openxmlformats.org/officeDocument/2006/relationships/notesSlide" Target="/ppt/notesSlides/notesSlide5.xml" Id="Rbdb962bc7ec8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e13196dd54531" /><Relationship Type="http://schemas.openxmlformats.org/officeDocument/2006/relationships/notesSlide" Target="/ppt/notesSlides/notesSlide6.xml" Id="Rb834469877724b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ebbb122c3413a" /><Relationship Type="http://schemas.openxmlformats.org/officeDocument/2006/relationships/notesSlide" Target="/ppt/notesSlides/notesSlide7.xml" Id="R912fd8ac5d624d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e64ca7e784abb" /><Relationship Type="http://schemas.openxmlformats.org/officeDocument/2006/relationships/image" Target="/ppt/media/image.png" Id="R58893615f9e24be2" /><Relationship Type="http://schemas.openxmlformats.org/officeDocument/2006/relationships/notesSlide" Target="/ppt/notesSlides/notesSlide8.xml" Id="R61b8cd30ca004b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4e8b7b71440ec" /><Relationship Type="http://schemas.openxmlformats.org/officeDocument/2006/relationships/notesSlide" Target="/ppt/notesSlides/notesSlide9.xml" Id="R0e3457ed75874d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0fb7b72cc459a" /><Relationship Type="http://schemas.openxmlformats.org/officeDocument/2006/relationships/notesSlide" Target="/ppt/notesSlides/notesSlide10.xml" Id="R993ae514b3be4f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ce1658caa4cb0" /><Relationship Type="http://schemas.openxmlformats.org/officeDocument/2006/relationships/notesSlide" Target="/ppt/notesSlides/notesSlide11.xml" Id="R375b368d6bc642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ee939a9fc4079" /><Relationship Type="http://schemas.openxmlformats.org/officeDocument/2006/relationships/notesSlide" Target="/ppt/notesSlides/notesSlide12.xml" Id="R8503bfc504b748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7834cafe34586" /><Relationship Type="http://schemas.openxmlformats.org/officeDocument/2006/relationships/notesSlide" Target="/ppt/notesSlides/notesSlide13.xml" Id="R90ff6a0a53d94a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3f98b1f12486b" /><Relationship Type="http://schemas.openxmlformats.org/officeDocument/2006/relationships/notesSlide" Target="/ppt/notesSlides/notesSlide14.xml" Id="Rf0b3d94524444d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0792b172d457f" /><Relationship Type="http://schemas.openxmlformats.org/officeDocument/2006/relationships/notesSlide" Target="/ppt/notesSlides/notesSlide15.xml" Id="R6be4f065ed7a4a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aef2dda2b4070" /><Relationship Type="http://schemas.openxmlformats.org/officeDocument/2006/relationships/notesSlide" Target="/ppt/notesSlides/notesSlide16.xml" Id="R29af3b319bea4e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da498fd204ba6" /><Relationship Type="http://schemas.openxmlformats.org/officeDocument/2006/relationships/notesSlide" Target="/ppt/notesSlides/notesSlide17.xml" Id="R0bf45f8ba5dc4a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d1ec057a24e58" /><Relationship Type="http://schemas.openxmlformats.org/officeDocument/2006/relationships/notesSlide" Target="/ppt/notesSlides/notesSlide18.xml" Id="R1e1d9c3f839144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906f9e1b3402b" /><Relationship Type="http://schemas.openxmlformats.org/officeDocument/2006/relationships/notesSlide" Target="/ppt/notesSlides/notesSlide19.xml" Id="R2cacbdaf622c42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CE2AF-541E-434E-81C4-8219BC4F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371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企业知识平台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选型与本体演进路线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A0AAD-A008-45A0-B3C6-05CE4AE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80D1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80D1C2"/>
                </a:solidFill>
                <a:latin typeface="Hiragino Sans GB"/>
                <a:ea typeface="Hiragino Sans GB"/>
                <a:cs typeface="Hiragino Sans GB"/>
              </a:rPr>
              <a:t>Dify、WeKnora 与 MindCreek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544C7-FFCA-487F-AF2A-464ECA22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1285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3E2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D3E2E4"/>
                </a:solidFill>
                <a:latin typeface="Hiragino Sans GB"/>
                <a:ea typeface="Hiragino Sans GB"/>
                <a:cs typeface="Hiragino Sans GB"/>
              </a:rPr>
              <a:t>管理员集中建设知识，员工通过智能体使用知识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BC3CB-878E-47C6-AAB4-3E32A4C3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CD0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BCD0D4"/>
                </a:solidFill>
                <a:latin typeface="Hiragino Sans GB"/>
                <a:ea typeface="Hiragino Sans GB"/>
                <a:cs typeface="Hiragino Sans GB"/>
              </a:rPr>
              <a:t>技术方案讨论稿   2026年9月14日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3E58B-0ECB-4247-998F-482EADD8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CD0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BCD0D4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9762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195EA-E90F-493A-9AB1-E5F70BC6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建议分工：MindCreek 建设知识，Dify 承载现有应用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E82F4-E1A7-4383-AB4D-2EE4D98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将知识能力演进与智能体平台迁移分开决策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E5952-AF9C-4101-94DC-0EE1A133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rPr>
              <a:t>新增核心研发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24263-5BF0-4E6B-9494-7D562259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647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优先沿 MindCreek 演化</a:t>
            </a:r>
          </a:p>
          <a:p xmlns:a="http://schemas.openxmlformats.org/drawingml/2006/main">
            <a:pPr>
              <a:def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复用 WeKnora 文档、Wiki 与图谱基础</a:t>
            </a:r>
          </a:p>
          <a:p xmlns:a="http://schemas.openxmlformats.org/drawingml/2006/main">
            <a:pPr>
              <a:def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新增本体治理、事实审核和推理服务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8B43-2CC0-408B-A1A5-32278555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rPr>
              <a:t>已有公司资产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79840-DCC2-4EA1-8DCA-6562B947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6191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保留 Dify 智能体与工作流</a:t>
            </a:r>
          </a:p>
          <a:p xmlns:a="http://schemas.openxmlformats.org/drawingml/2006/main">
            <a:pPr>
              <a:def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通过受控 API 获取检索和推理结果</a:t>
            </a:r>
          </a:p>
          <a:p xmlns:a="http://schemas.openxmlformats.org/drawingml/2006/main">
            <a:pPr>
              <a:def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根据试点结果决定后续迁移范围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386C0-29FF-4450-AB5E-DB22DE1B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取舍：复用两边已有能力，同时承担接口适配、统一授权与双平台运维成本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25704-9343-484B-94CD-AEBA098D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方案建议。完整本体治理与规则推理仍需专项建设。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4A1A2-09CB-440C-AA6B-2D5A7527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87266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CBB9D-79A4-4404-BB6C-3DE584F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当前需求与选型重点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8B338-89C6-4723-93E9-C10261D3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管理员建设知识，员工访问智能体，领域专家维护知识语义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829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5572125"/>
                <a:gridCol w="5191125"/>
              </a:tblGrid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需求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明确的产品行为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对选型的影响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集中维护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专门的管理角色建库、导入和更新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降低个人笔记、分享订阅的权重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员工问答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员工仅使用获授权的问答智能体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 Dify 现有入口具有价值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专业知识建设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复用 OCR、Wiki 和 GraphRAG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提高 WeKnora 知识处理能力的权重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本体与推理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专家编辑本体，以规则和证据回答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两条路线都需新增治理与推理模块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现有环境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公司自部署 Dify，主要通过插件/API 扩展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优先接口集成，控制核心源码改动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0E523-97B6-4562-8396-F5492FE3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部署前提来自用户说明。公司 Dify 具体版本、插件清单和受众权限配置待核实。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AD7B2-0A4F-4B64-8FA4-C429BF78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5656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C2AC6-28A6-41B5-A345-A1AE0E8A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比较口径与当前交付边界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2C396-76DD-42AC-A3EB-0EC37FFC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WeKnora 上游能力、MindCreek 产品交付与公司 Dify 现状分别判断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524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6381750"/>
                <a:gridCol w="4381500"/>
              </a:tblGrid>
              <a:tr h="1381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对象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已确认的基础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仍需验证或建设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1381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公司 Dify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已有知识库与聊天智能体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自部署，主要通过插件/API 扩展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具体版本与插件能力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员工权限与引用访问链路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1381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WeKnora v0.8.0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上游已有 OCR/解析、Wiki、图谱抽取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具有图谱补充召回与智能体工具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目标资料上的效果与成本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完整本体治理和规则推理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1381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MindCreek 当前仓库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Phase 5 基线，已有文档问答、权限与身份接入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默认 rag_graph=false，ontology=false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GraphRAG 产品验收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员工发布门户、本体工作流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915A9-E81A-46D6-B1C9-2EBDA88B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仓库状态不能替代实际服务器验收。上游包含功能，也不代表产品已经开放完整流程。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43D3E-6C6A-44DA-A67A-BF30C50D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4357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E2D77-AFF9-488A-9B7A-F5DC8C8E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当前需求支持与使用便利程度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8345A-A6A0-4B08-A1AA-1FD6E5E8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“较便利”指复用现有流程较多，不代表无需配置、开发或验收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657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5381625"/>
                <a:gridCol w="5619750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当前需求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Dify 路线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WeKnora / MindCreek 路线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管理员集中建库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可支持，较便利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沿用已有知识库与管理流程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可支持，较便利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调整角色与入口，收敛个人功能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员工仅访问智能体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现有资产优势明显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Web App/API 可用，受众鉴权需核实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已有问答能力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员工发布与门户仍需产品化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文档解析与 OCR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可通过解析管线与工具扩展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核对版本、插件和扫描件效果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已有解析与 OCR/VLM 链路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复用直接，表格和关键字段仍需评测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帖子与附件批量入库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需要上传适配或数据源连接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可复用现有导入前处理逻辑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已有帖子导入工具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目标接口与解析质量需样本联调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保留现有应用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最便利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知识库、提示词与工作流继续使用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需要适配或迁移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原有回答、引用与会话行为需回归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169C3-6A50-4DC1-8059-ED490834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Dify 最新文档能力不等于公司当前部署能力。具体便利程度需要接口与样本验证。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D9A3C-A843-4A8F-A583-BF5B06BA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75717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850A3-9498-4E00-ABE8-16AB15A3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未来知识能力的支持与扩展便利程度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5D10B-BBD5-4429-BFB3-27019633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本体治理与规则推理都需要专项建设，WeKnora 的优势在已有知识处理底座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657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5381625"/>
                <a:gridCol w="5619750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未来能力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Dify 插件/API 路线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WeKnora / MindCreek 演化路线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持续维护 Wiki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可接入外部内容服务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专题页面与编辑工作台需另建或接入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上游已有页面、引用、编辑与版本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作为本体候选整理入口较便利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GraphRAG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可调用外部检索或图查询工具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图谱构建与更新由配套服务负责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已有抽取、Neo4j 与补充召回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可复用，需补产品验收与治理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本体提取与编辑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模型/工具可生成草稿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完整审核、版本和编辑后台需建设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可利用 Wiki 与图谱提出候选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正式本体模型与发布流程仍需建设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可解释规则推理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工具接口可接推理服务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规则执行与证据展示需适配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可围绕受控事实层扩展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 GraphRAG 不能替代规则引擎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专业管理体验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插件接入便利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复杂知识工作台适合独立建设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产品侧可围绕知识对象定制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需持续承担 UI 与上游适配成本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968A4-0C71-48CE-8C37-7FD148EF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判断依据为已核对的官方接口与当前仓库。未将市场插件可能具备的能力视为原生交付。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DB46F-4F2E-449C-9F06-352A80A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72736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F7EA1-F466-4DE9-B28E-0B70F40B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两条开发路线的投入与长期取舍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3E97D-13C1-4ECC-ABC7-C56BC51E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投入判断以新增开发、迁移回归和持续维护为依据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657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5381625"/>
                <a:gridCol w="5619750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投入项目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围绕 Dify 扩展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 MindCreek 演化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可复用资产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公司已有智能体与工作流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已有文档处理、导入工具与知识界面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主要新增工作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专业知识后台、本体与图谱服务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插件、接口及证据展示适配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本体与受控事实层、推理服务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员工使用入口及产品流程完善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主要工程风险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身份与知识权限传递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复杂知识交互超出插件边界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图模型向本体模型演进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知识更新失效与上游升级适配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长期维护重点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应用编排与外部服务契约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知识工作台与派生索引生命周期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更适合的主目标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已有智能体扩展和业务流程自动化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专业知识建设、本体治理和领域问答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CC4D5-87EC-4A15-A0D7-85E2847A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当前建议采用分工接入。若最终仅保留一个平台，以试点效果、迁移成本和团队能力决定。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F8A61-83C1-48C0-A1C5-1DB112E8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07111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D0DE7-0CE0-464F-BB80-730DDFE2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Wiki 是专家整理本体候选的入口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AB15E-3ED2-4A73-9A6F-F84027CD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复用已有概念页、实体页、引用和人工修订能力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93615f9e24be2"/>
          <a:stretch xmlns:a="http://schemas.openxmlformats.org/drawingml/2006/main"/>
        </p:blipFill>
        <p:spPr>
          <a:xfrm xmlns:a="http://schemas.openxmlformats.org/drawingml/2006/main">
            <a:off x="762000" y="2235994"/>
            <a:ext cx="9429750" cy="51863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04DB1-65BE-44B4-AEED-FB33AB6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336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rPr>
              <a:t>可直接复用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2A51B-621F-427F-88C2-DBA063BF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76575"/>
            <a:ext cx="3810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概念与实体页</a:t>
            </a:r>
          </a:p>
          <a:p xmlns:a="http://schemas.openxmlformats.org/drawingml/2006/main">
            <a:pPr>
              <a:def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别名及关联页面</a:t>
            </a:r>
          </a:p>
          <a:p xmlns:a="http://schemas.openxmlformats.org/drawingml/2006/main">
            <a:pPr>
              <a:def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原文与分块引用</a:t>
            </a:r>
          </a:p>
          <a:p xmlns:a="http://schemas.openxmlformats.org/drawingml/2006/main">
            <a:pPr>
              <a:def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编辑、版本和回滚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6BB48-91DA-4233-AE17-AC8FE6C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150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rPr>
              <a:t>需要新增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5E56B-803D-4FB5-8A4A-F41E65ED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72225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正式本体标识</a:t>
            </a:r>
          </a:p>
          <a:p xmlns:a="http://schemas.openxmlformats.org/drawingml/2006/main">
            <a:pPr>
              <a:defRPr sz="21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语义审核与发布</a:t>
            </a:r>
          </a:p>
          <a:p xmlns:a="http://schemas.openxmlformats.org/drawingml/2006/main">
            <a:pPr>
              <a:defRPr sz="21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页面与本体版本映射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6F2A9-1AEA-4C6E-9E98-46D2F861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截图来自 WeKnora 上游演示资料。Wiki 页面编辑与正式本体发布应分别管理。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C03C6-AE68-45A7-93F6-96AADF46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989294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60286-8608-4B00-9133-C64C546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OCR、Wiki、图谱、本体与推理的职责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C8930-F626-4CE5-9ED7-8BE4F5CD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每一层解决不同问题，共同保留对原始证据的追溯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657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5238750"/>
                <a:gridCol w="5810250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解决的问题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示例及演进边界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OCR / 解析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把原始资料转为可处理内容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识别设备名称、编号与表格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关键字段和位置引用需校验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Wiki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为人整理可阅读的知识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设备 A 页面链接到零件 B 页面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链接表达相关性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实例图谱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表达具体实体之间的事实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设备 A 使用零件 B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关系需要证据和有效状态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Ontology 本体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定义概念、关系及其约束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设备可以使用零件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规定关系含义、类型和属性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规则推理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依照事实与规则导出结论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根据零件批次与适用规则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判断设备是否进入排查清单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1E476-6BB1-48FB-BA5E-62DDE01A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示例为说明结构的假设场景。Wiki 相关链接、实例关系和本体语义需要分别维护。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367BE-4CED-4EC7-A283-A1B41A8D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9839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74517-A591-4AE0-8350-661F39CC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目标架构与模块分工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8BBD7-952B-4EAC-9B4D-77DF883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规划架构：复用 WeKnora 底层链路，在 MindCreek 自有模块中建设本体与事实治理</a:t>
            </a:r>
          </a:p>
        </p:txBody>
      </p:sp>
      <p:sp>
        <p:nvSpPr>
          <p:cNvPr id="3" name="admin">
            <a:extLst xmlns:a="http://schemas.openxmlformats.org/drawingml/2006/main">
              <a:ext uri="{FF2B5EF4-FFF2-40B4-BE49-F238E27FC236}">
                <a16:creationId xmlns:a16="http://schemas.microsoft.com/office/drawing/2014/main" id="{88084BFA-D1A4-404D-96C7-3EE8ADF6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管理员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领域专家</a:t>
            </a:r>
          </a:p>
        </p:txBody>
      </p:sp>
      <p:sp>
        <p:nvSpPr>
          <p:cNvPr id="4" name="workbench">
            <a:extLst xmlns:a="http://schemas.openxmlformats.org/drawingml/2006/main">
              <a:ext uri="{FF2B5EF4-FFF2-40B4-BE49-F238E27FC236}">
                <a16:creationId xmlns:a16="http://schemas.microsoft.com/office/drawing/2014/main" id="{996E1476-7B36-4439-8D2F-50D4C7F7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352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A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本体管理工作台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草稿、编辑与审核</a:t>
            </a:r>
          </a:p>
        </p:txBody>
      </p:sp>
      <p:sp>
        <p:nvSpPr>
          <p:cNvPr id="5" name="ontology">
            <a:extLst xmlns:a="http://schemas.openxmlformats.org/drawingml/2006/main">
              <a:ext uri="{FF2B5EF4-FFF2-40B4-BE49-F238E27FC236}">
                <a16:creationId xmlns:a16="http://schemas.microsoft.com/office/drawing/2014/main" id="{0E3716C0-21AF-40C6-9D7E-CF305097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595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A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已发布的本体与规则版本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稳定标识及明确的适用范围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822CDBA-C930-4353-BDC5-9A714083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原始文档与附件</a:t>
            </a:r>
          </a:p>
        </p:txBody>
      </p:sp>
      <p:sp>
        <p:nvSpPr>
          <p:cNvPr id="7" name="weknora">
            <a:extLst xmlns:a="http://schemas.openxmlformats.org/drawingml/2006/main">
              <a:ext uri="{FF2B5EF4-FFF2-40B4-BE49-F238E27FC236}">
                <a16:creationId xmlns:a16="http://schemas.microsoft.com/office/drawing/2014/main" id="{EC9610CA-378B-4BFA-BDF5-000E184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352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WeKnora 现有链路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解析、OCR、分块与 Wiki</a:t>
            </a:r>
          </a:p>
        </p:txBody>
      </p:sp>
      <p:sp>
        <p:nvSpPr>
          <p:cNvPr id="8" name="facts">
            <a:extLst xmlns:a="http://schemas.openxmlformats.org/drawingml/2006/main">
              <a:ext uri="{FF2B5EF4-FFF2-40B4-BE49-F238E27FC236}">
                <a16:creationId xmlns:a16="http://schemas.microsoft.com/office/drawing/2014/main" id="{0FDF2BDB-F37A-45F6-96DA-E5AA1D10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595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A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受控事实与图索引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本体引导抽取、消歧、校验与审核</a:t>
            </a:r>
          </a:p>
        </p:txBody>
      </p:sp>
      <p:sp>
        <p:nvSpPr>
          <p:cNvPr id="9" name="employee">
            <a:extLst xmlns:a="http://schemas.openxmlformats.org/drawingml/2006/main">
              <a:ext uri="{FF2B5EF4-FFF2-40B4-BE49-F238E27FC236}">
                <a16:creationId xmlns:a16="http://schemas.microsoft.com/office/drawing/2014/main" id="{FD1B1125-392C-4D0F-8DF9-09EDFD64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员工与企业入口</a:t>
            </a:r>
          </a:p>
        </p:txBody>
      </p:sp>
      <p:sp>
        <p:nvSpPr>
          <p:cNvPr id="10" name="dify">
            <a:extLst xmlns:a="http://schemas.openxmlformats.org/drawingml/2006/main">
              <a:ext uri="{FF2B5EF4-FFF2-40B4-BE49-F238E27FC236}">
                <a16:creationId xmlns:a16="http://schemas.microsoft.com/office/drawing/2014/main" id="{7D341F87-B223-498E-A015-FA028302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352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Dify 现有智能体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或 MindCreek 问答入口</a:t>
            </a:r>
          </a:p>
        </p:txBody>
      </p:sp>
      <p:sp>
        <p:nvSpPr>
          <p:cNvPr id="11" name="query">
            <a:extLst xmlns:a="http://schemas.openxmlformats.org/drawingml/2006/main">
              <a:ext uri="{FF2B5EF4-FFF2-40B4-BE49-F238E27FC236}">
                <a16:creationId xmlns:a16="http://schemas.microsoft.com/office/drawing/2014/main" id="{C704543B-10B3-43AD-8D88-C30E9962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595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A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授权后的检索与推理接口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返回证据、事实和规则依据</a:t>
            </a:r>
          </a:p>
        </p:txBody>
      </p:sp>
      <p:cxnSp>
        <p:nvCxnSpPr>
          <p:cNvPr id="3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2905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29500" y="29051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4953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29500" y="49530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7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5667375" y="342900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1501438" y="342900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48000" y="7000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29500" y="70008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1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11501438" y="54768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06A9D-F379-4A04-BDF0-2B32630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原文与本体是可追溯依据，图索引可重建。接口先约束授权范围，再执行检索或推理。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A6F5D-D52D-49CF-8208-DAF324B2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63330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4620A-1919-4BFE-87AF-2953B4FE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技术演进路线与阶段交付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1C9EB-B8EB-4EAB-9FCD-29C62DDB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最小本体与 GraphRAG 同步建设，先验证一个业务领域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657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5572125"/>
                <a:gridCol w="5286375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核心建设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进入下一阶段的证据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 基线与领域范围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选定业务问题与代表性资料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核对 OCR、Wiki、原文引用和图查询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能够复现基线结果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明确关键字段与证据质量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 最小本体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模型提出候选，专家编辑审核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建立稳定标识与不可变发布版本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本体可以表达选定业务问题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发布、变更和回滚流程可验证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 受控事实图谱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本体引导抽取、实体消歧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事实证据、约束校验和审核队列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错误、冲突与重复实体可处理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事实能够追溯原文和本体版本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 本体增强问答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概念识别与受限多跳查询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融合 Plain RAG，接入现有智能体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关联问题有可测收益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引用、权限和缺失信息行为正确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  规则推理与运营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选择明确的业务规则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补齐增量更新、失效和审计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推理依据可解释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源文档变更后结论及时更新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B98B6-DBC4-4D10-BD90-52EF0737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阶段表示依赖顺序，不代表承诺工期。先确定范围与验收阈值，再估算人力和排期。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D0FF6-BD13-48AF-8292-CF258C5C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408653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63B20-0D4C-4FE0-9FB0-59F482B3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本体管理：模型提出候选，专家发布语义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E3670-395C-40EE-8AC7-DC312BAF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一个领域、一组业务问题、一个可追溯的本体版本</a:t>
            </a:r>
          </a:p>
        </p:txBody>
      </p:sp>
      <p:sp>
        <p:nvSpPr>
          <p:cNvPr id="3" name="questions">
            <a:extLst xmlns:a="http://schemas.openxmlformats.org/drawingml/2006/main">
              <a:ext uri="{FF2B5EF4-FFF2-40B4-BE49-F238E27FC236}">
                <a16:creationId xmlns:a16="http://schemas.microsoft.com/office/drawing/2014/main" id="{B1CF024E-17A2-457D-9BAD-8C5DFB0F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714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业务问题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确定领域范围</a:t>
            </a:r>
          </a:p>
        </p:txBody>
      </p:sp>
      <p:sp>
        <p:nvSpPr>
          <p:cNvPr id="4" name="draft">
            <a:extLst xmlns:a="http://schemas.openxmlformats.org/drawingml/2006/main">
              <a:ext uri="{FF2B5EF4-FFF2-40B4-BE49-F238E27FC236}">
                <a16:creationId xmlns:a16="http://schemas.microsoft.com/office/drawing/2014/main" id="{8FEB3CF1-B9D7-481B-813C-9E1575C4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2714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原文与 Wiki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提出候选本体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882ED590-67FB-462A-9B2E-721AF24E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714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2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专家编辑审核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合并、修订或拒绝</a:t>
            </a:r>
          </a:p>
        </p:txBody>
      </p:sp>
      <p:sp>
        <p:nvSpPr>
          <p:cNvPr id="6" name="publish">
            <a:extLst xmlns:a="http://schemas.openxmlformats.org/drawingml/2006/main">
              <a:ext uri="{FF2B5EF4-FFF2-40B4-BE49-F238E27FC236}">
                <a16:creationId xmlns:a16="http://schemas.microsoft.com/office/drawing/2014/main" id="{D8EDF9D7-5CD9-4D60-8255-4590B9F4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333625"/>
            <a:ext cx="2714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A"/>
          </a:solidFill>
          <a:ln xmlns:a="http://schemas.openxmlformats.org/drawingml/2006/main" w="14288">
            <a:solidFill>
              <a:srgbClr val="137F7A"/>
            </a:solidFill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发布版本</a:t>
            </a:r>
          </a:p>
          <a:p xmlns:a="http://schemas.openxmlformats.org/drawingml/2006/main">
            <a:pPr algn="ctr">
              <a:def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用于后续抽取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76625" y="29051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43750" y="29051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810875" y="29051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7A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84201-4F6E-4504-8B2F-4DD03540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rPr>
              <a:t>本体需要表达的内容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30B74-91D3-4C85-87E9-B84D76E9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6477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概念、定义与稳定标识</a:t>
            </a:r>
          </a:p>
          <a:p xmlns:a="http://schemas.openxmlformats.org/drawingml/2006/main">
            <a:pPr>
              <a:def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属性类型、单位和同义词</a:t>
            </a:r>
          </a:p>
          <a:p xmlns:a="http://schemas.openxmlformats.org/drawingml/2006/main">
            <a:pPr>
              <a:def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关系含义、方向与约束</a:t>
            </a:r>
          </a:p>
          <a:p xmlns:a="http://schemas.openxmlformats.org/drawingml/2006/main">
            <a:pPr>
              <a:def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对应的业务问题和正反例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3ACCE-3957-41B4-980F-CCD162F9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rPr>
              <a:t>发布与编辑的边界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C3971-6CBF-4D73-A5A0-11930C93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6381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Wiki 文字编辑单独留版本</a:t>
            </a:r>
          </a:p>
          <a:p xmlns:a="http://schemas.openxmlformats.org/drawingml/2006/main">
            <a:pPr>
              <a:def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本体修改形成新的草稿版本</a:t>
            </a:r>
          </a:p>
          <a:p xmlns:a="http://schemas.openxmlformats.org/drawingml/2006/main">
            <a:pPr>
              <a:def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专家发布后才指导正式抽取</a:t>
            </a:r>
          </a:p>
          <a:p xmlns:a="http://schemas.openxmlformats.org/drawingml/2006/main">
            <a:pPr>
              <a:def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关系语义变化触发影响评估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50259-F414-4385-AAB1-2E8413C3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建议以 RDF/OWL 表达所需语义，使用 Turtle 或 JSON-LD 交换，避免绑定某个图数据库。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91B74-CACC-4F2F-9221-9623A626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684914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824AA-30B1-4BB5-B69B-0F92CCDD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受控事实层需要保留哪些信息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1F5E2-52CC-4155-9D3D-3FFADA94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图中的每一条业务事实，都应能够解释来源、语义、版本与有效状态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657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5286375"/>
                <a:gridCol w="5476875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信息类别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建议记录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用途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事实与实体身份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稳定实体 ID、主体、关系、客体或值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跨文档消歧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避免同名误合并和重复实体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证据与来源版本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知识库、文档修订、分块或区域引用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返回原文依据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追踪 OCR 和抽取错误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抽取与本体版本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本体版本、模型与抽取器版本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复现结果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评估本体变更后的影响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校验与人工审核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约束校验结果、审核决定、操作者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隔离冲突与待审事实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保留专家修订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有效期与访问范围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生效时间、失效状态、来源权限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按时间和受众查询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阻止过期或越权结果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97B05-DDDC-4AE4-92C6-34EDAD18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Neo4j 可继续承担图查询。事实治理记录由产品侧维护，索引按版本重建。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CC213-1E87-47B0-AAC7-46A77E45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10338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EC6AA-0462-40E8-9F6B-CD099E3D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本体增强问答与规则推理示例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5FB40-E24E-4E29-A9E6-A4A920DB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假设问题：哪些设备需要进入某批次零件的排查清单？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22759-A16D-41F7-8368-16D3A894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rPr>
              <a:t>已审核事实与适用规则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C0B31-E59E-4A3A-B3C8-DBFA5DEC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666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F1  设备 A 使用零件 B</a:t>
            </a:r>
          </a:p>
          <a:p xmlns:a="http://schemas.openxmlformats.org/drawingml/2006/main">
            <a:pPr>
              <a:def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F2  零件 B 属于批次 C</a:t>
            </a:r>
          </a:p>
          <a:p xmlns:a="http://schemas.openxmlformats.org/drawingml/2006/main">
            <a:pPr>
              <a:def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F3  批次 C 在本次排查范围内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F613C-3EC3-456D-8D2B-704F123E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规则 R1</a:t>
            </a:r>
          </a:p>
          <a:p xmlns:a="http://schemas.openxmlformats.org/drawingml/2006/main">
            <a:pPr>
              <a:def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设备使用排查范围内批次的零件，</a:t>
            </a:r>
          </a:p>
          <a:p xmlns:a="http://schemas.openxmlformats.org/drawingml/2006/main">
            <a:pPr>
              <a:def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且满足规则适用条件时，纳入清单。</a:t>
            </a:r>
          </a:p>
          <a:p xmlns:a="http://schemas.openxmlformats.org/drawingml/2006/main">
            <a:pPr>
              <a:def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本例已确认规则有效且适用。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233C3-8107-4A75-84DB-1CC2DC0B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37F7A"/>
                </a:solidFill>
                <a:latin typeface="Hiragino Sans GB"/>
                <a:ea typeface="Hiragino Sans GB"/>
                <a:cs typeface="Hiragino Sans GB"/>
              </a:rPr>
              <a:t>系统应返回的结果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03BAF-CF89-4E31-B321-6C23158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638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设备 A 进入待排查清单</a:t>
            </a:r>
          </a:p>
          <a:p xmlns:a="http://schemas.openxmlformats.org/drawingml/2006/main">
            <a:pPr>
              <a:def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依据事实 F1、F2、F3</a:t>
            </a:r>
          </a:p>
          <a:p xmlns:a="http://schemas.openxmlformats.org/drawingml/2006/main">
            <a:pPr>
              <a:def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适用规则 R1 及其发布版本</a:t>
            </a:r>
          </a:p>
          <a:p xmlns:a="http://schemas.openxmlformats.org/drawingml/2006/main">
            <a:pPr>
              <a:def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关联原文与有效时间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F0285-DC2E-4CB5-9FF9-F10CE2B6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10250"/>
            <a:ext cx="638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必要条件缺失时</a:t>
            </a:r>
          </a:p>
          <a:p xmlns:a="http://schemas.openxmlformats.org/drawingml/2006/main">
            <a:pPr>
              <a:defRPr sz="2175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返回“无法确定”并列出缺失信息，</a:t>
            </a:r>
          </a:p>
          <a:p xmlns:a="http://schemas.openxmlformats.org/drawingml/2006/main">
            <a:pPr>
              <a:defRPr sz="2175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保留原文检索作为补充。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F2449-FD68-49CB-BDA5-27311634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图查询负责找关联事实，规则引擎负责执行条件，大模型负责解释与交互。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B3F86-3115-4255-B1A7-FFA8DCBE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709474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5A79D-EC99-4028-AF0E-7387398F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更新、权限与知识失效机制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41CCA-A16E-4C87-B0CC-E6D0F893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首次建图之后，系统还需要持续维护知识的有效性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657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6381750"/>
                <a:gridCol w="4381500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变化事件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系统应执行的行为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需要保留的证据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原文修订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识别影响范围，重新抽取和校验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重建相关图索引及派生内容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源文档修订与抽取记录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本体语义变化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发布新版本，重新验证相关事实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评估旧查询与规则是否兼容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本体差异与影响清单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来源删除或失效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停用依赖该来源的事实与推导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清理相关缓存和引用入口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失效原因与处理状态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员工权限变化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检索前重新限制知识范围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事实、推导与附件沿用授权边界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授权范围及访问审计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人工纠错或冲突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保留专家决定与修订历史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将冲突纳入审核，避免静默覆盖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审核人、依据与版本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42C28-4929-40A4-97BF-52E6AAFD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Wiki 可用于发现候选知识。正式事实需追溯原始证据，避免衍生内容循环证明自身。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0C72C-48BF-4A39-AF8D-72557661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582473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5A32E-314E-4BB3-9516-00FB9FA1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Dify 接入 MindCreek 的方式与边界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2DBB7-53E5-43C7-8E9D-6A91D37B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复用现有智能体，分别适配文本检索、结构化推理和管理员工作台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4762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4857750"/>
                <a:gridCol w="6143625"/>
              </a:tblGrid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建议接入方式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接口与产品责任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文本知识检索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Dify 外部知识库接口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POST /retrieval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返回内容、分数和来源信息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MindCreek 维护知识与检索逻辑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图查询与规则推理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Dify 工具插件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调用受限的图谱/推理服务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返回事实、关系路径、规则与证据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引用和结果展示需要专门适配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1190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本体编辑与审核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独立管理员工作台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通过企业入口或统一登录衔接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编辑、审核与发布归知识后台</a:t>
                      </a:r>
                    </a:p>
                    <a:p>
                      <a:r>
                        <a:rPr sz="2025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员工智能体仅开放所需查询能力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7AD3F-1204-4213-92A8-E2B21E52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标准外部检索 API 的配置密钥不能直接代表当前员工身份。</a:t>
            </a:r>
          </a:p>
          <a:p xmlns:a="http://schemas.openxmlformats.org/drawingml/2006/main">
            <a:pPr>
              <a:defRPr sz="195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固定受众可绑定固定知识范围，差异化权限需要可信身份与授权传递。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E5DE7-6731-424C-B412-107B2A63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新增试点知识指定唯一维护入口，避免在 Dify 与 MindCreek 两边重复编辑同一内容。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4B7C9-EBE6-40FE-89CC-7AF171D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985315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15AEF-C1D8-492A-827D-1C150672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试点范围与验收标准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B1D8B-0173-4FEC-A0F3-71995419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一个领域、同一组资料和问题，比较 Plain RAG、现有图检索与本体增强方案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734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6286500"/>
                <a:gridCol w="4476750"/>
              </a:tblGrid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验收方面</a:t>
                      </a:r>
                    </a:p>
                  </a:txBody>
                  <a:tcPr marL="171450" marR="171450" marT="76200" marB="762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主要检查</a:t>
                      </a:r>
                    </a:p>
                  </a:txBody>
                  <a:tcPr marL="171450" marR="171450" marT="76200" marB="762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记录的结果</a:t>
                      </a:r>
                    </a:p>
                  </a:txBody>
                  <a:tcPr marL="171450" marR="171450" marT="76200" marB="76200" anchor="ctr">
                    <a:solidFill>
                      <a:srgbClr val="142C3B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解析与证据</a:t>
                      </a:r>
                    </a:p>
                  </a:txBody>
                  <a:tcPr marL="171450" marR="1714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编号、数值、单位及表格关系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原文引用是否准确</a:t>
                      </a:r>
                    </a:p>
                  </a:txBody>
                  <a:tcPr marL="171450" marR="1714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关键字段错误与定位成功情况</a:t>
                      </a:r>
                    </a:p>
                  </a:txBody>
                  <a:tcPr marL="171450" marR="171450" marT="76200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知识与问答质量</a:t>
                      </a:r>
                    </a:p>
                  </a:txBody>
                  <a:tcPr marL="171450" marR="171450" marT="76200" marB="762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实体/关系正确性、跨文档问题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单跳、多跳和规则问题分别评估</a:t>
                      </a:r>
                    </a:p>
                  </a:txBody>
                  <a:tcPr marL="171450" marR="171450" marT="76200" marB="762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正确率、证据完整性与覆盖率</a:t>
                      </a:r>
                    </a:p>
                  </a:txBody>
                  <a:tcPr marL="171450" marR="171450" marT="76200" marB="76200" anchor="ctr">
                    <a:solidFill>
                      <a:srgbClr val="EDF3F2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不确定性与冲突</a:t>
                      </a:r>
                    </a:p>
                  </a:txBody>
                  <a:tcPr marL="171450" marR="1714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缺少事实、来源冲突、规则例外</a:t>
                      </a:r>
                    </a:p>
                  </a:txBody>
                  <a:tcPr marL="171450" marR="1714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错误确定回答与合理拒答情况</a:t>
                      </a:r>
                    </a:p>
                  </a:txBody>
                  <a:tcPr marL="171450" marR="171450" marT="76200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更新与权限</a:t>
                      </a:r>
                    </a:p>
                  </a:txBody>
                  <a:tcPr marL="171450" marR="171450" marT="76200" marB="762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修订、删除、撤权、人工纠错</a:t>
                      </a:r>
                    </a:p>
                  </a:txBody>
                  <a:tcPr marL="171450" marR="171450" marT="76200" marB="762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失效延迟与越权检查结果</a:t>
                      </a:r>
                    </a:p>
                  </a:txBody>
                  <a:tcPr marL="171450" marR="171450" marT="76200" marB="76200" anchor="ctr">
                    <a:solidFill>
                      <a:srgbClr val="EDF3F2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性能与费用</a:t>
                      </a:r>
                    </a:p>
                  </a:txBody>
                  <a:tcPr marL="171450" marR="1714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入库和重建耗时、查询延迟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抽取、检索及生成的调用量</a:t>
                      </a:r>
                    </a:p>
                  </a:txBody>
                  <a:tcPr marL="171450" marR="1714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端到端耗时与实际使用成本</a:t>
                      </a:r>
                    </a:p>
                  </a:txBody>
                  <a:tcPr marL="171450" marR="171450" marT="76200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管理与集成体验</a:t>
                      </a:r>
                    </a:p>
                  </a:txBody>
                  <a:tcPr marL="171450" marR="171450" marT="76200" marB="762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专家审核负担、纠错效率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Dify 引用和工具结果展示</a:t>
                      </a:r>
                    </a:p>
                  </a:txBody>
                  <a:tcPr marL="171450" marR="171450" marT="76200" marB="762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操作耗时、失败率与反馈</a:t>
                      </a:r>
                    </a:p>
                  </a:txBody>
                  <a:tcPr marL="171450" marR="171450" marT="76200" marB="76200" anchor="ctr">
                    <a:solidFill>
                      <a:srgbClr val="EDF3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7880A-1A7C-4832-B5C1-21EDCD4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先约定阈值再测试。固定语料、模型与配置，保留基线结果和可复现的评测记录。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57E13-107B-4BB3-BACC-B1F390D4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450835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2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E482A-1FA8-48ED-B7AF-5B04AEDF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建议的近期投入优先级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5BF66-1CCA-43DB-87D2-0E1209D3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CD0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BCD0D4"/>
                </a:solidFill>
                <a:latin typeface="Hiragino Sans GB"/>
                <a:ea typeface="Hiragino Sans GB"/>
                <a:cs typeface="Hiragino Sans GB"/>
              </a:rPr>
              <a:t>核心研发沿 MindCreek 演化，现有 Dify 应用继续服务员工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C4B81-EEE9-4422-83AD-BC1FC24D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80D1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80D1C2"/>
                </a:solidFill>
                <a:latin typeface="Hiragino Sans GB"/>
                <a:ea typeface="Hiragino Sans GB"/>
                <a:cs typeface="Hiragino Sans GB"/>
              </a:rPr>
              <a:t>优先完成一个业务闭环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8FCC4-E6D6-43A9-B02F-6558BFF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7286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选定领域、专家和验收问题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发布最小本体，抽取并审核事实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完成关联查询与原文证据回答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验证一次原文修订后的正确更新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47C94-39B9-4779-8702-BF58DC4A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0D1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80D1C2"/>
                </a:solidFill>
                <a:latin typeface="Hiragino Sans GB"/>
                <a:ea typeface="Hiragino Sans GB"/>
                <a:cs typeface="Hiragino Sans GB"/>
              </a:rPr>
              <a:t>同步保留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FB5A8-EC44-4A02-8B08-F1AF7521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38500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Dify 现有智能体与工作流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Plain RAG 和原始证据链路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9F50C-DB8C-4F6C-9542-99A96F9B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0482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0D1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80D1C2"/>
                </a:solidFill>
                <a:latin typeface="Hiragino Sans GB"/>
                <a:ea typeface="Hiragino Sans GB"/>
                <a:cs typeface="Hiragino Sans GB"/>
              </a:rPr>
              <a:t>降低近期优先级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632BB-964B-4AF1-8D77-96A1A75C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905500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个人笔记、分享订阅、桌面端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PixelRAG 按视觉检索收益另行评估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09634-AC5A-43A8-B960-2AB81A8D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72325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试点通过后，再决定扩展领域、资源投入，以及是否整合为单一平台。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F39A0-9BA6-491C-BD82-2968ACFA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CD0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BCD0D4"/>
                </a:solidFill>
                <a:latin typeface="Hiragino Sans GB"/>
                <a:ea typeface="Hiragino Sans GB"/>
                <a:cs typeface="Hiragino Sans GB"/>
              </a:rPr>
              <a:t>路线建议。工程建设、试点部署与生产推广分别按相应范围决策。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C040D-DAC6-4547-B43B-35F6F127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CD0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BCD0D4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295104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586FA-2F83-47C9-A9D9-B93E05EE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71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C3B"/>
                </a:solidFill>
                <a:latin typeface="Hiragino Sans GB"/>
                <a:ea typeface="Hiragino Sans GB"/>
                <a:cs typeface="Hiragino Sans GB"/>
              </a:rPr>
              <a:t>资料来源与判断边界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C0048-3B54-44E2-965D-CFE8BF6D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对应页的演讲者备注保留具体链接、仓库路径与必要说明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3716000" cy="5657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10287000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资料类别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主要依据</a:t>
                      </a:r>
                    </a:p>
                  </a:txBody>
                  <a:tcPr marL="171450" marR="171450" marT="133350" marB="114300" anchor="ctr">
                    <a:solidFill>
                      <a:srgbClr val="142C3B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公司需求与部署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本次对话：集中维护、员工仅访问智能体、本体与逻辑推理方向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公司自部署 Dify，主要通过插件/API 扩展，具体版本未核实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MindCreek 当前状态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docs/CURRENT_STATUS.md、docs/ROADMAP.md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docs/OVERALL_DESIGN.md、能力配置与员工智能体发布设计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WeKnora 现有能力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固定上游 v0.8.0 的文档解析、Wiki 和知识图谱实现说明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包括上游 Wiki 演示截图，未以演示截图代替生产验收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Dify 官方接口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外部知识库与 External Knowledge API、插件类型、应用发布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数据源插件和多模态工具文档，适用能力需结合公司版本核对</a:t>
                      </a:r>
                    </a:p>
                  </a:txBody>
                  <a:tcPr marL="171450" marR="171450" marT="133350" marB="114300" anchor="ctr">
                    <a:solidFill>
                      <a:srgbClr val="EDF3F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本体与推理标准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W3C OWL 2、W3C SHACL、Apache Jena 推理说明</a:t>
                      </a:r>
                    </a:p>
                    <a:p>
                      <a:r>
                        <a:rPr sz="1950" b="0">
                          <a:solidFill>
                            <a:srgbClr val="14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用来区分本体语义、数据校验与规则推理</a:t>
                      </a:r>
                    </a:p>
                  </a:txBody>
                  <a:tcPr marL="171450" marR="1714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4D768-E461-4BE6-887B-DCC66543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295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资料核对日期：2026-09-14。便利程度为定性判断，未提供实际质量、成本或工期评分。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689B4-70BD-409F-93A2-CC44C78C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36775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15660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2026-09-14T07:06:20.8010000Z</dcterms:created>
  <dcterms:modified xsi:type="dcterms:W3CDTF">2026-09-14T07:06:20.8010000Z</dcterms:modified>
</coreProperties>
</file>